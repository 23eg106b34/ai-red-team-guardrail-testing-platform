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4e8527300664721" /><Relationship Type="http://schemas.openxmlformats.org/officeDocument/2006/relationships/extended-properties" Target="/docProps/app.xml" Id="Re38c15257a1440a9" /><Relationship Type="http://schemas.openxmlformats.org/officeDocument/2006/relationships/officeDocument" Target="/ppt/presentation.xml" Id="R91674a75bf2d433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deceae15ee54cc9"/>
  </p:sldMasterIdLst>
  <p:notesMasterIdLst>
    <p:notesMasterId xmlns:r="http://schemas.openxmlformats.org/officeDocument/2006/relationships" r:id="Rc2a3cb42b0bd4e4b"/>
  </p:notesMasterIdLst>
  <p:sldIdLst>
    <p:sldId xmlns:r="http://schemas.openxmlformats.org/officeDocument/2006/relationships" id="256" r:id="Rfb1c52dc11404069"/>
    <p:sldId xmlns:r="http://schemas.openxmlformats.org/officeDocument/2006/relationships" id="257" r:id="R5d5035713ddd4288"/>
    <p:sldId xmlns:r="http://schemas.openxmlformats.org/officeDocument/2006/relationships" id="258" r:id="Rc244bb4ddac14381"/>
    <p:sldId xmlns:r="http://schemas.openxmlformats.org/officeDocument/2006/relationships" id="259" r:id="R1c2a32c09ea949ef"/>
    <p:sldId xmlns:r="http://schemas.openxmlformats.org/officeDocument/2006/relationships" id="260" r:id="R9f440bdd509246a9"/>
    <p:sldId xmlns:r="http://schemas.openxmlformats.org/officeDocument/2006/relationships" id="261" r:id="Rd6c459b24d944541"/>
    <p:sldId xmlns:r="http://schemas.openxmlformats.org/officeDocument/2006/relationships" id="262" r:id="Rf43b33218b204145"/>
    <p:sldId xmlns:r="http://schemas.openxmlformats.org/officeDocument/2006/relationships" id="263" r:id="R4031ae9b86554832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93165b4c72441ab" /><Relationship Type="http://schemas.openxmlformats.org/officeDocument/2006/relationships/slideMaster" Target="/ppt/slideMasters/slideMaster1.xml" Id="R6deceae15ee54cc9" /><Relationship Type="http://schemas.openxmlformats.org/officeDocument/2006/relationships/notesMaster" Target="/ppt/notesMasters/notesMaster1.xml" Id="Rc2a3cb42b0bd4e4b" /><Relationship Type="http://schemas.openxmlformats.org/officeDocument/2006/relationships/presProps" Target="/ppt/presProps.xml" Id="Rc4dd287d65ea4035" /><Relationship Type="http://schemas.openxmlformats.org/officeDocument/2006/relationships/viewProps" Target="/ppt/viewProps.xml" Id="R564a8ea914164267" /><Relationship Type="http://schemas.openxmlformats.org/officeDocument/2006/relationships/tableStyles" Target="/ppt/tableStyles.xml" Id="R912f854efa3b4c61" /><Relationship Type="http://schemas.openxmlformats.org/officeDocument/2006/relationships/slide" Target="/ppt/slides/slide1.xml" Id="Rfb1c52dc11404069" /><Relationship Type="http://schemas.openxmlformats.org/officeDocument/2006/relationships/slide" Target="/ppt/slides/slide2.xml" Id="R5d5035713ddd4288" /><Relationship Type="http://schemas.openxmlformats.org/officeDocument/2006/relationships/slide" Target="/ppt/slides/slide3.xml" Id="Rc244bb4ddac14381" /><Relationship Type="http://schemas.openxmlformats.org/officeDocument/2006/relationships/slide" Target="/ppt/slides/slide4.xml" Id="R1c2a32c09ea949ef" /><Relationship Type="http://schemas.openxmlformats.org/officeDocument/2006/relationships/slide" Target="/ppt/slides/slide5.xml" Id="R9f440bdd509246a9" /><Relationship Type="http://schemas.openxmlformats.org/officeDocument/2006/relationships/slide" Target="/ppt/slides/slide6.xml" Id="Rd6c459b24d944541" /><Relationship Type="http://schemas.openxmlformats.org/officeDocument/2006/relationships/slide" Target="/ppt/slides/slide7.xml" Id="Rf43b33218b204145" /><Relationship Type="http://schemas.openxmlformats.org/officeDocument/2006/relationships/slide" Target="/ppt/slides/slide8.xml" Id="R4031ae9b8655483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5d8b2c0f4bf4ad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ee1ec3db5054549" /><Relationship Type="http://schemas.openxmlformats.org/officeDocument/2006/relationships/notesMaster" Target="/ppt/notesMasters/notesMaster1.xml" Id="R389b7b0f977b477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e6f7c236e2642db" /><Relationship Type="http://schemas.openxmlformats.org/officeDocument/2006/relationships/notesMaster" Target="/ppt/notesMasters/notesMaster1.xml" Id="Re79cead476994a1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463c6c701a045ed" /><Relationship Type="http://schemas.openxmlformats.org/officeDocument/2006/relationships/notesMaster" Target="/ppt/notesMasters/notesMaster1.xml" Id="R4bd15c4468da4bb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a4706de9d1c4bd6" /><Relationship Type="http://schemas.openxmlformats.org/officeDocument/2006/relationships/notesMaster" Target="/ppt/notesMasters/notesMaster1.xml" Id="R4b0b6fdd7c7a4e3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d3ead73d9804938" /><Relationship Type="http://schemas.openxmlformats.org/officeDocument/2006/relationships/notesMaster" Target="/ppt/notesMasters/notesMaster1.xml" Id="R270e0ec6ced44df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d4f677c81b24b24" /><Relationship Type="http://schemas.openxmlformats.org/officeDocument/2006/relationships/notesMaster" Target="/ppt/notesMasters/notesMaster1.xml" Id="R3f946f1422b844f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efb6b14aef14747" /><Relationship Type="http://schemas.openxmlformats.org/officeDocument/2006/relationships/notesMaster" Target="/ppt/notesMasters/notesMaster1.xml" Id="Rc6e7b6c2e17e4d6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2bf8b6d79a244cb" /><Relationship Type="http://schemas.openxmlformats.org/officeDocument/2006/relationships/notesMaster" Target="/ppt/notesMasters/notesMaster1.xml" Id="Reba50bc28539433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154244272ee4be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692afbf26c04f0a" /><Relationship Type="http://schemas.openxmlformats.org/officeDocument/2006/relationships/slideLayout" Target="/ppt/slideLayouts/slideLayout1.xml" Id="R6130f5667fec411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130f5667fec411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c929a810b94078" /><Relationship Type="http://schemas.openxmlformats.org/officeDocument/2006/relationships/notesSlide" Target="/ppt/notesSlides/notesSlide1.xml" Id="Ra9ff5b97d79445f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1811fa03b7472e" /><Relationship Type="http://schemas.openxmlformats.org/officeDocument/2006/relationships/notesSlide" Target="/ppt/notesSlides/notesSlide2.xml" Id="R576a73d6d964492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0ae175ece04a22" /><Relationship Type="http://schemas.openxmlformats.org/officeDocument/2006/relationships/notesSlide" Target="/ppt/notesSlides/notesSlide3.xml" Id="R3d6c8ea950c54c5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9af895ba9d4b64" /><Relationship Type="http://schemas.openxmlformats.org/officeDocument/2006/relationships/image" Target="/ppt/media/image.png" Id="R457004dc10d14a58" /><Relationship Type="http://schemas.openxmlformats.org/officeDocument/2006/relationships/notesSlide" Target="/ppt/notesSlides/notesSlide4.xml" Id="R133d15617c2b4ba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3e1269133f4f66" /><Relationship Type="http://schemas.openxmlformats.org/officeDocument/2006/relationships/image" Target="/ppt/media/image2.png" Id="R7ed85216a04a49b0" /><Relationship Type="http://schemas.openxmlformats.org/officeDocument/2006/relationships/notesSlide" Target="/ppt/notesSlides/notesSlide5.xml" Id="R3f1def3230c04e0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1e2fe228d94be7" /><Relationship Type="http://schemas.openxmlformats.org/officeDocument/2006/relationships/image" Target="/ppt/media/image3.png" Id="Ra9ac693147ab4083" /><Relationship Type="http://schemas.openxmlformats.org/officeDocument/2006/relationships/notesSlide" Target="/ppt/notesSlides/notesSlide6.xml" Id="Re51ef192a9a94fe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f5f7ff3aec425b" /><Relationship Type="http://schemas.openxmlformats.org/officeDocument/2006/relationships/notesSlide" Target="/ppt/notesSlides/notesSlide7.xml" Id="R92a0e9cd3048407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25dd5eccdb4bad" /><Relationship Type="http://schemas.openxmlformats.org/officeDocument/2006/relationships/notesSlide" Target="/ppt/notesSlides/notesSlide8.xml" Id="R3a50cf6499ef4976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0C12DD8-130E-438F-A33F-E57E9B069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DE6F95E-B388-4AD0-9E4D-03E69D6D4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4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CBE617-DBDD-4295-AA77-1CF644675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4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0BA220-380A-4DFA-B62E-EA5B1129E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4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3A7416-1628-4217-9FA4-0C4BBE99C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4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2532F3F-6D03-44D3-9D28-2889F6FD3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4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536D550-3A75-4BAB-9684-E5500084F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4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F167561-D4BC-42F1-BE63-9CBA489B1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4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03177C4-A592-4F61-96C0-FF05DD0AD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4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EEF42BB-9B5F-465B-9F65-FB5AA0032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4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35EFAFC-5599-42E3-8822-B0515A65C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4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4E07343-2677-48EF-8F71-8950756EB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4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C031780-8E74-43ED-938F-C9A154849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4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E36C9F1-3B2D-4381-89F8-942DD3274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4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CEC2C09-FC28-4BDB-AB23-5A7943951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4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4212B28-CDF2-4168-967D-4B5CEA62F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4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A7C06B7-2564-4536-8767-C7D8C9A93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4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890DD78-5D17-4DF0-81DD-80BF49F63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4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2CB91EA-A0B1-4D52-95B3-EBBF2E644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4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7473DC3-372E-4A55-B8AB-44F459B20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4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244724A-FF9D-4F59-B361-535D3C86D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4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3A718CB-6CC2-4F67-A73F-A66677E4F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4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B9E9CE4-0C2F-400D-8960-EF0646228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4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F7F4699-F424-4A02-8B74-B9AB5E7D4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4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669340A-9FBA-460E-BA20-10C1DDC92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4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F4D609D-7530-43C2-B76C-B37AB7BA8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4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CF1F9A2-0561-4D7D-8C4B-7B6DE8124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4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BAB39B4-D9E6-4B4A-B135-EA5EAA50F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4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3ED074F-7D63-49A1-965B-F29EFECC3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4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3A64B09-8F10-49C6-B2C3-BF0D23C85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57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4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997DC2A-8CD8-48FD-8CDD-599468BAA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14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4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C84BA92-71D0-4D6B-973A-D909D185F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371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4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8466FDC-2255-4D1F-8A62-E186E38B1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828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4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6D8ECB5-20AF-4DD3-BDE9-F3968B8C6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286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4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10D29D7-665C-4F92-B5AE-60E6BB208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743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4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B390628-8EDE-483F-842C-740936CCC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200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4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D565E85-EAD9-44A9-97B6-AEF04BC49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657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4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EB8D8E9-B4BE-42AC-82FB-70F9C6F1A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114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4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DCDF1E8-D216-4D1B-A4A5-874743FE0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572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4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FADED2C-ED19-498D-8F48-AECA64DCD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029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4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5E7F2F2-1489-4330-BB65-35FBFFBE6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486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4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D757BCC-FF29-4B96-9527-F4933C236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943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4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E228730-3783-4476-8C72-B0EDF0F1B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00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4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kicker-1-marker">
            <a:extLst xmlns:a="http://schemas.openxmlformats.org/drawingml/2006/main">
              <a:ext uri="{FF2B5EF4-FFF2-40B4-BE49-F238E27FC236}">
                <a16:creationId xmlns:a16="http://schemas.microsoft.com/office/drawing/2014/main" id="{98E25304-7E95-445C-A346-CDFA482FC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23875"/>
            <a:ext cx="266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D5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kicker-1-label">
            <a:extLst xmlns:a="http://schemas.openxmlformats.org/drawingml/2006/main">
              <a:ext uri="{FF2B5EF4-FFF2-40B4-BE49-F238E27FC236}">
                <a16:creationId xmlns:a16="http://schemas.microsoft.com/office/drawing/2014/main" id="{61639D46-43CA-4C4C-B5A9-3076B9A62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38150"/>
            <a:ext cx="4762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D5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0D5FF"/>
                </a:solidFill>
                <a:latin typeface="Aptos"/>
                <a:ea typeface="Aptos"/>
                <a:cs typeface="Aptos"/>
              </a:rPr>
              <a:t>PROJECT OVERVIEW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76268797-DEDC-4BA8-9D21-8B106C79D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90600"/>
            <a:ext cx="8572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8FBFF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F8FBFF"/>
                </a:solidFill>
                <a:latin typeface="Aptos Display"/>
                <a:ea typeface="Aptos Display"/>
                <a:cs typeface="Aptos Display"/>
              </a:rPr>
              <a:t>AI Red-Team Guardrail Testing Platform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B6C7DA92-89AF-4E7B-A747-6C890D9B5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190750"/>
            <a:ext cx="72390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F8FBFF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F8FBFF"/>
                </a:solidFill>
                <a:latin typeface="Aptos"/>
                <a:ea typeface="Aptos"/>
                <a:cs typeface="Aptos"/>
              </a:rPr>
              <a:t>A full-stack security platform for launching adversarial AI tests, scoring model risk, storing encrypted provider keys, and turning results into reports.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89FE256A-1D6E-4ECD-B40A-345B9AF1A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857625"/>
            <a:ext cx="102870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A2C"/>
          </a:solidFill>
          <a:ln xmlns:a="http://schemas.openxmlformats.org/drawingml/2006/main" w="14288">
            <a:solidFill>
              <a:srgbClr val="234866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16B51A79-6946-4539-88A2-02864D88F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52900"/>
            <a:ext cx="1524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0D5FF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00D5FF"/>
                </a:solidFill>
                <a:latin typeface="Aptos Display"/>
                <a:ea typeface="Aptos Display"/>
                <a:cs typeface="Aptos Display"/>
              </a:rPr>
              <a:t>5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207C746D-5181-4D9B-9097-34AF0853D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572000"/>
            <a:ext cx="1809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8B3C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A8B3C7"/>
                </a:solidFill>
                <a:latin typeface="Aptos"/>
                <a:ea typeface="Aptos"/>
                <a:cs typeface="Aptos"/>
              </a:rPr>
              <a:t>attack families seeded into the library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03813FFF-ADFE-4CE7-9FFB-291742341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4152900"/>
            <a:ext cx="1524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9CFF2F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9CFF2F"/>
                </a:solidFill>
                <a:latin typeface="Aptos Display"/>
                <a:ea typeface="Aptos Display"/>
                <a:cs typeface="Aptos Display"/>
              </a:rPr>
              <a:t>IST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1ED0E021-0656-4B8A-BEB2-027B60E71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4572000"/>
            <a:ext cx="1809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8B3C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A8B3C7"/>
                </a:solidFill>
                <a:latin typeface="Aptos"/>
                <a:ea typeface="Aptos"/>
                <a:cs typeface="Aptos"/>
              </a:rPr>
              <a:t>date and time normalized for India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872794D8-928B-46C4-9240-30E8A47DB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4152900"/>
            <a:ext cx="1524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6D5DFC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6D5DFC"/>
                </a:solidFill>
                <a:latin typeface="Aptos Display"/>
                <a:ea typeface="Aptos Display"/>
                <a:cs typeface="Aptos Display"/>
              </a:rPr>
              <a:t>RBAC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4060B734-B193-49E6-A78C-41AE897A6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4572000"/>
            <a:ext cx="1809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8B3C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A8B3C7"/>
                </a:solidFill>
                <a:latin typeface="Aptos"/>
                <a:ea typeface="Aptos"/>
                <a:cs typeface="Aptos"/>
              </a:rPr>
              <a:t>admin view for users and keys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A5385647-5727-4C0B-93BC-FAB1F3113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152900"/>
            <a:ext cx="1524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5168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FF5168"/>
                </a:solidFill>
                <a:latin typeface="Aptos Display"/>
                <a:ea typeface="Aptos Display"/>
                <a:cs typeface="Aptos Display"/>
              </a:rPr>
              <a:t>PPTX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ACF9247F-0148-42DF-8367-4111578D1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572000"/>
            <a:ext cx="1809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8B3C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A8B3C7"/>
                </a:solidFill>
                <a:latin typeface="Aptos"/>
                <a:ea typeface="Aptos"/>
                <a:cs typeface="Aptos"/>
              </a:rPr>
              <a:t>project explainer included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E80AA388-7D28-4ED3-BA3C-E62B7CFC1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619750"/>
            <a:ext cx="9334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8B3C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A8B3C7"/>
                </a:solidFill>
                <a:latin typeface="Aptos"/>
                <a:ea typeface="Aptos"/>
                <a:cs typeface="Aptos"/>
              </a:rPr>
              <a:t>Built with Next.js, FastAPI, SQLAlchemy, JWT auth, encrypted API keys, test history, prompt library, reports, and Vercel-ready frontend configuration.</a:t>
            </a:r>
          </a:p>
        </p:txBody>
      </p:sp>
    </p:spTree>
    <p:extLst>
      <p:ext uri="{BB962C8B-B14F-4D97-AF65-F5344CB8AC3E}">
        <p14:creationId xmlns:p14="http://schemas.microsoft.com/office/powerpoint/2010/main" val="840713351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A9512B7-041C-4853-B84D-B01BA4988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06E5206-2627-4E46-A867-F927A92A4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4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644D28-0617-4F05-B494-ED6A3E4BC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4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B5256E-B61F-48E4-876E-DA95CEB7E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4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CC2C79-60CD-41C0-A7CD-F3A733CD1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4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5B1460B-5946-48CC-86E6-20E23354F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4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0081CC1-173B-440D-9008-BF7B8437D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4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36C6A4C-4707-40BA-B8D9-03FACD80B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4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7C0221D-F848-4550-96A7-FF7E6A414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4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4A08A8A-1984-4C2B-8294-0F94E825A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4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0DC2DFF-316D-42AB-B79F-D76EC3D12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4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E417FC2-5E4E-4DA0-9BB7-8C3913C1A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4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115A67B-8B01-45B5-95F6-7E7BC393C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4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A5305A8-4A9E-4396-A1EC-D2B35DB86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4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8FCB3E5-0CDA-4D78-A243-A351EF352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4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B418D13-1D3C-46CB-8C14-9E8F1A3E3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4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12A995C-8EE4-4307-9C6F-B2BE38A2D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4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D901302-99B9-46A6-81E2-71B48A38B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4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770E495-D8C7-4A30-8E53-007A06127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4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7769CA9-F014-48C9-BE16-DDC1FFEF9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4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2ED61C0-083E-4E2A-89D8-87F53E5B9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4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C950F7F-ECE2-4301-9C74-5F679E576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4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C8AC514-FD42-4D98-89C3-E2388BE3B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4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8BA57BC-5303-4A30-9EEA-CE8DF3D67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4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9D872CE-4437-421F-A0AA-DF9606D32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4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2157C99-75FD-45A8-8BC9-7A183CC82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4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0F162BB-BD95-4FAB-9414-F683F1452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4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0B111B2-EA23-4137-8AB4-BAC40BAAD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4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2DC5638-0D3E-4D57-8E02-1893B176B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4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E7B8A27-5B4B-49CA-B501-87ECC8694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57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4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3F50FB3-EF29-4AB0-A48E-5FDF464E7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14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4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68EEB35-AFFF-40ED-974B-6AC7AA2C2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371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4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C20629D-88E6-42CB-85EE-8219BAEEA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828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4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D3990B7-0850-4732-834D-5A5BDC29B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286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4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A9EA9F3-7918-489C-B53D-250E19BA8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743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4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D8E920C-8C2B-4FA5-B6F0-6F79283BB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200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4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B1F8B73-EA83-467D-AAE8-225AB469D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657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4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819064E-CE06-433C-BB8E-D2BFCD198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114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4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15D2923-BD02-4FD4-A9D5-1E940A742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572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4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1A8105A-7834-4677-A3F5-15BDDA2E0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029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4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781C3C5-CA64-4E52-BEBC-5338387C3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486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4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853D1B5-F836-4EF3-A0F6-6CDEF6B21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943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4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3C274F1-185C-4412-9347-84F679B10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00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4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kicker-2-marker">
            <a:extLst xmlns:a="http://schemas.openxmlformats.org/drawingml/2006/main">
              <a:ext uri="{FF2B5EF4-FFF2-40B4-BE49-F238E27FC236}">
                <a16:creationId xmlns:a16="http://schemas.microsoft.com/office/drawing/2014/main" id="{EF4D973C-232D-4321-BC9E-1E9BAC26E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23875"/>
            <a:ext cx="266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D5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kicker-2-label">
            <a:extLst xmlns:a="http://schemas.openxmlformats.org/drawingml/2006/main">
              <a:ext uri="{FF2B5EF4-FFF2-40B4-BE49-F238E27FC236}">
                <a16:creationId xmlns:a16="http://schemas.microsoft.com/office/drawing/2014/main" id="{78F9962D-52E7-487A-9B7B-F266839D3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38150"/>
            <a:ext cx="4762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D5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0D5FF"/>
                </a:solidFill>
                <a:latin typeface="Aptos"/>
                <a:ea typeface="Aptos"/>
                <a:cs typeface="Aptos"/>
              </a:rPr>
              <a:t>WHY IT EXISTS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64711ED5-A1D4-4115-A851-671A06A2D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8953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8FBFF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F8FBFF"/>
                </a:solidFill>
                <a:latin typeface="Aptos Display"/>
                <a:ea typeface="Aptos Display"/>
                <a:cs typeface="Aptos Display"/>
              </a:rPr>
              <a:t>The platform helps teams find model failures before users do.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5349B8DE-2489-4A19-A2F7-1A539E158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81250"/>
            <a:ext cx="98107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B2E"/>
          </a:solidFill>
          <a:ln xmlns:a="http://schemas.openxmlformats.org/drawingml/2006/main" w="14288">
            <a:solidFill>
              <a:srgbClr val="234866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CE6FAFAD-2F29-4149-801B-615ABC33C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71750"/>
            <a:ext cx="2476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8FBFF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F8FBFF"/>
                </a:solidFill>
                <a:latin typeface="Aptos Display"/>
                <a:ea typeface="Aptos Display"/>
                <a:cs typeface="Aptos Display"/>
              </a:rPr>
              <a:t>Prompt attacks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E2FD7CC4-9264-4998-BEBF-DA6B24C8B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552700"/>
            <a:ext cx="6286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8B3C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A8B3C7"/>
                </a:solidFill>
                <a:latin typeface="Aptos"/>
                <a:ea typeface="Aptos"/>
                <a:cs typeface="Aptos"/>
              </a:rPr>
              <a:t>Jailbreak, prompt injection, toxicity, data leakage, hallucination, plus domain-specific prompts.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94A65339-5482-44BF-8EF2-8BBDDAE29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0"/>
            <a:ext cx="98107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33A"/>
          </a:solidFill>
          <a:ln xmlns:a="http://schemas.openxmlformats.org/drawingml/2006/main" w="14288">
            <a:solidFill>
              <a:srgbClr val="234866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58F0E763-19BB-49C6-9BC5-6FAD130A0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10000"/>
            <a:ext cx="2476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8FBFF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F8FBFF"/>
                </a:solidFill>
                <a:latin typeface="Aptos Display"/>
                <a:ea typeface="Aptos Display"/>
                <a:cs typeface="Aptos Display"/>
              </a:rPr>
              <a:t>Guardrail scoring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319F06E1-E3F7-4B30-B433-2F8D6777B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790950"/>
            <a:ext cx="6286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8B3C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A8B3C7"/>
                </a:solidFill>
                <a:latin typeface="Aptos"/>
                <a:ea typeface="Aptos"/>
                <a:cs typeface="Aptos"/>
              </a:rPr>
              <a:t>Each run records risk score, attack success, hallucination rate, latency, cost, status, and recommendations.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E9C42D5B-3F72-44AC-A41C-FE29BD406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857750"/>
            <a:ext cx="98107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B2E"/>
          </a:solidFill>
          <a:ln xmlns:a="http://schemas.openxmlformats.org/drawingml/2006/main" w="14288">
            <a:solidFill>
              <a:srgbClr val="234866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67B28739-64F0-4F5D-A0B1-93F709FFA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048250"/>
            <a:ext cx="2476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8FBFF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F8FBFF"/>
                </a:solidFill>
                <a:latin typeface="Aptos Display"/>
                <a:ea typeface="Aptos Display"/>
                <a:cs typeface="Aptos Display"/>
              </a:rPr>
              <a:t>Operational evidence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FEF28A00-2EDE-41FA-B88F-558511399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5029200"/>
            <a:ext cx="6286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8B3C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A8B3C7"/>
                </a:solidFill>
                <a:latin typeface="Aptos"/>
                <a:ea typeface="Aptos"/>
                <a:cs typeface="Aptos"/>
              </a:rPr>
              <a:t>Admins can manage API keys, inspect users, review test history, and export reports.</a:t>
            </a:r>
          </a:p>
        </p:txBody>
      </p:sp>
    </p:spTree>
    <p:extLst>
      <p:ext uri="{BB962C8B-B14F-4D97-AF65-F5344CB8AC3E}">
        <p14:creationId xmlns:p14="http://schemas.microsoft.com/office/powerpoint/2010/main" val="2023708299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86FEC61-19DF-435D-915E-167672D7B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137157-3CF4-4D4A-A1E4-976F9BE63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4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55A91BA-15F4-4767-A82E-9B464116F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4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CF0EF7-6F08-4D63-A76C-FF92EF9F9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4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4D5183-A9A1-49E6-AF68-FC460B635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4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9FBEB6D-9765-4436-8E19-8E3A192A9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4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B1B1A35-2F7F-40B5-9B6A-23044F960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4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4DC9C09-FB21-4D12-B9B4-3AE0C835D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4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848A453-6A1E-42E4-B365-F61D4BB29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4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ED07C94-0727-4EFE-9521-D97623E15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4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B3756AD-BB33-4218-90F8-FD7AED44F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4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CC76407-8740-446C-A4D8-37C287879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4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EA8660F-C70F-4F31-9DFF-51768151E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4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BBF123F-6071-4E5D-853E-D8040CEA0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4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AFC97E6-5EB3-406E-AC01-AE92AF148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4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041BAB3-9C84-45F3-B898-8FEE9E61C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4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AAA5EF2-F1B5-441E-BE6B-88891E222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4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BCCC76A-FDF3-4286-91A8-0ADACA2E8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4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92AAA18-DC6E-4714-8E15-0A78C13F0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4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CC5D576-7555-450D-B322-CAE540A98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4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F1F2E00-C602-4C5E-BAEE-7CA6DBC26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4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CB6899F-A6A6-45D4-B863-AEC07EB0D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4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638227D-A0FF-474B-8B3E-EC1B909BD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4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909BCB3-1348-4E3B-AA34-0B6C204E0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4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E906FE7-1F11-4FEC-82C7-CB922DA73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4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7E1C9CF-81F7-4535-8084-FFE3E3288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4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94BC209-B454-497E-8A1E-3704FE23E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4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BD5FF0F-10A1-4E15-8DBE-95964BF32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4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C4ECBF9-62A0-4AC6-BA53-5479AB418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4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D6D5C11-86C1-4A2D-9DCF-87B2B5A5E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57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4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4B46A74-D8EF-42CD-A094-6176B198F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14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4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3D357EB-685F-4CCC-8E0C-F498096A4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371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4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113A7E3-D02B-44BF-833F-D613343B0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828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4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0F89EB9-B8AA-41BE-B82F-1750A01FE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286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4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42DEB73-B141-4C53-A52D-F2D33EE33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743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4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321C054-37DB-4AD2-BE65-BE0EB3D6F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200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4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F734288-7C6A-4C4B-87D4-A596D502B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657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4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DBCDA01-E5F9-4027-9566-C381E516F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114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4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DD3B4FD-794E-4B4E-AD35-EAB038BD9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572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4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69039BF-0BA3-4CBB-A1F7-10850E8E9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029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4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53245DD-AB70-44D2-BCB9-7A34366A0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486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4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FDA8273-D183-48D9-8D2A-5B06B6BD7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943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4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0F1B788-1130-4480-8B16-FD6F47BD5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00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4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kicker-3-marker">
            <a:extLst xmlns:a="http://schemas.openxmlformats.org/drawingml/2006/main">
              <a:ext uri="{FF2B5EF4-FFF2-40B4-BE49-F238E27FC236}">
                <a16:creationId xmlns:a16="http://schemas.microsoft.com/office/drawing/2014/main" id="{2C13F526-9632-49DD-83CD-581B8997C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23875"/>
            <a:ext cx="266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D5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kicker-3-label">
            <a:extLst xmlns:a="http://schemas.openxmlformats.org/drawingml/2006/main">
              <a:ext uri="{FF2B5EF4-FFF2-40B4-BE49-F238E27FC236}">
                <a16:creationId xmlns:a16="http://schemas.microsoft.com/office/drawing/2014/main" id="{46168841-2745-4F22-8C5F-5D7F516E8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38150"/>
            <a:ext cx="4762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D5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0D5FF"/>
                </a:solidFill>
                <a:latin typeface="Aptos"/>
                <a:ea typeface="Aptos"/>
                <a:cs typeface="Aptos"/>
              </a:rPr>
              <a:t>SYSTEM ARCHITECTURE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D82DFFA6-E1AF-4583-9F4E-9BBD973C3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9334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8FBFF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F8FBFF"/>
                </a:solidFill>
                <a:latin typeface="Aptos Display"/>
                <a:ea typeface="Aptos Display"/>
                <a:cs typeface="Aptos Display"/>
              </a:rPr>
              <a:t>A simple split: Next.js experience, FastAPI security brain.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0AE17A0B-1315-4CAE-8576-75D8DF130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76500"/>
            <a:ext cx="2857500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B2E"/>
          </a:solidFill>
          <a:ln xmlns:a="http://schemas.openxmlformats.org/drawingml/2006/main" w="14288">
            <a:solidFill>
              <a:srgbClr val="234866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CCAB154F-7F75-4A5F-9683-74928A3B7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05100"/>
            <a:ext cx="4000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D5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1A9CFDC5-0CE9-4FE9-9E73-FE4B64036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33700"/>
            <a:ext cx="2286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8FBFF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F8FBFF"/>
                </a:solidFill>
                <a:latin typeface="Aptos Display"/>
                <a:ea typeface="Aptos Display"/>
                <a:cs typeface="Aptos Display"/>
              </a:rPr>
              <a:t>Frontend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314EEA17-2EE1-42E0-8E4E-36D7CAE54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352800"/>
            <a:ext cx="2381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8B3C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A8B3C7"/>
                </a:solidFill>
                <a:latin typeface="Aptos"/>
                <a:ea typeface="Aptos"/>
                <a:cs typeface="Aptos"/>
              </a:rPr>
              <a:t>Next.js app shell, auth screens, dashboard, tests, library, reports, admin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D776B10D-64C1-4FB5-96BE-77682E0B0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2476500"/>
            <a:ext cx="2857500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B2E"/>
          </a:solidFill>
          <a:ln xmlns:a="http://schemas.openxmlformats.org/drawingml/2006/main" w="14288">
            <a:solidFill>
              <a:srgbClr val="234866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922FB91E-8589-4C89-87F4-5C157D6AB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2705100"/>
            <a:ext cx="4000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CFF2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705824A0-1869-4684-B224-229CF94D6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2933700"/>
            <a:ext cx="2286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8FBFF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F8FBFF"/>
                </a:solidFill>
                <a:latin typeface="Aptos Display"/>
                <a:ea typeface="Aptos Display"/>
                <a:cs typeface="Aptos Display"/>
              </a:rPr>
              <a:t>API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65F0FD50-56B8-46FC-974E-A2F06F410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3352800"/>
            <a:ext cx="2381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8B3C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A8B3C7"/>
                </a:solidFill>
                <a:latin typeface="Aptos"/>
                <a:ea typeface="Aptos"/>
                <a:cs typeface="Aptos"/>
              </a:rPr>
              <a:t>FastAPI routes for auth, attacks, tests, reports, analytics, API keys, admin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26F6DAA5-46D8-4C3F-820E-65490273A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476500"/>
            <a:ext cx="2857500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B2E"/>
          </a:solidFill>
          <a:ln xmlns:a="http://schemas.openxmlformats.org/drawingml/2006/main" w="14288">
            <a:solidFill>
              <a:srgbClr val="234866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F013A517-C1B1-4E6B-9E75-B43F7F6F5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705100"/>
            <a:ext cx="4000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5D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9FD506CD-CBD9-4A6C-9E75-9490BAD8C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933700"/>
            <a:ext cx="2286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8FBFF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F8FBFF"/>
                </a:solidFill>
                <a:latin typeface="Aptos Display"/>
                <a:ea typeface="Aptos Display"/>
                <a:cs typeface="Aptos Display"/>
              </a:rPr>
              <a:t>Persistence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8E9A6D18-82F5-46F3-928C-DB7324176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352800"/>
            <a:ext cx="2381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8B3C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A8B3C7"/>
                </a:solidFill>
                <a:latin typeface="Aptos"/>
                <a:ea typeface="Aptos"/>
                <a:cs typeface="Aptos"/>
              </a:rPr>
              <a:t>SQLAlchemy models, local SQLite/PostgreSQL-ready DB, encrypted key records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11446B5F-A8FD-4687-971F-09399AFFC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200400"/>
            <a:ext cx="571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486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6AFB9073-688B-453B-963F-15B45E5A3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5175" y="3200400"/>
            <a:ext cx="571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486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8EB22BE5-09D4-4D4F-93BC-FFA56F118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19700"/>
            <a:ext cx="8953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8FBFF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F8FBFF"/>
                </a:solidFill>
                <a:latin typeface="Aptos"/>
                <a:ea typeface="Aptos"/>
                <a:cs typeface="Aptos"/>
              </a:rPr>
              <a:t>The current deployment target is Vercel for the frontend. Backend hosting still needs a public API URL for a fully live production flow.</a:t>
            </a:r>
          </a:p>
        </p:txBody>
      </p:sp>
    </p:spTree>
    <p:extLst>
      <p:ext uri="{BB962C8B-B14F-4D97-AF65-F5344CB8AC3E}">
        <p14:creationId xmlns:p14="http://schemas.microsoft.com/office/powerpoint/2010/main" val="698079429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D3CD82D-056F-432A-92E0-1147FDA0B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B8871A-688C-4463-A87F-AF4914139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4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EEA9EA-4775-4C93-91A8-8FCC645DF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4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9E25A5-DDD7-40E1-8DBD-7AD219B01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4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A1CAAF-487F-4AA7-8111-2BB2C5F13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4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56AC89B-1B1B-4A3A-94AB-A7EECCA28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4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CAE2F2F-01A5-41DC-8772-62CDC05F4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4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B37C17D-E665-4B8B-89B2-E8429D0F4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4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81162EB-1054-4FED-83D4-1CCEA5DA9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4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31D1914-70FE-41D2-9ED8-5B1A5286B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4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00BDDE7-2F4D-4956-A57D-3FDE82F74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4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BAA2374-F95A-499A-B3CF-52AE60A23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4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0EB9F4D-CF14-46C1-801D-5AE8C4BC8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4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1D67B28-9AC5-4AC6-B51D-6F361F1B4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4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AE99D00-05D7-42D3-BC71-0DDD73DE8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4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0922A5D-5EC8-421C-ACB8-0FCB5EE4B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4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F0A4689-DB4F-41FC-8569-AA2661ADA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4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CB680A3-0A08-4A3F-A2F2-5445D23CE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4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6429EFA-5EFD-4754-8FB1-D39ABFAA8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4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7D9775F-F2CD-4649-B598-B6F056D2B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4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67C5260-2CD7-4619-832F-1B2C5D2C1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4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3093946-F198-4161-975F-B1B90F055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4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9D0C5A1-7809-4D6D-9210-BD9C0FA73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4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257278B-721A-493F-9576-BEAE3A58C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4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F724FDA-38AF-4CA1-8113-8D63662FA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4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E1577E0-3203-4D95-A682-A940F2CE4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4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646B088-9006-4471-8C6D-70B8BA503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4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A7B7530-F9DE-4C98-AFCD-4BA296D00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4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70B8256-4CEB-4E1C-9DDD-0B9D96CC5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4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322EF4B-351F-4606-A98F-99E96677E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57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4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6CEBD9D-252D-4A6B-82A0-6E5376DDD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14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4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66A5F1B-C36D-4A37-9CD0-33AC1B9BD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371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4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1177B5C-4D8B-47BC-A82C-609A3F00D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828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4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5EBE51E-BAC0-49DB-8073-2C5FCFB5C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286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4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7E0059B-484F-45B6-B859-3C11C14D9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743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4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9E68E75-2CA4-4438-B221-D3F44E77E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200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4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ACB5C46-7060-4A2F-A340-879442B83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657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4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1819A1C-AE03-40BE-9F27-BE5AB9E3A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114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4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39FA442-209A-4195-BEFA-9FCEC56EE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572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4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01E17EC-3F09-4FC5-A81B-9C3B7B207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029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4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B0D34D0-DA8E-490C-82B2-FFF80AF0C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486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4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7CF1214-DA8A-47DE-80DF-B7D141DF9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943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4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1DBEB25-93D8-41BC-8344-9DD8440B8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00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4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kicker-4-marker">
            <a:extLst xmlns:a="http://schemas.openxmlformats.org/drawingml/2006/main">
              <a:ext uri="{FF2B5EF4-FFF2-40B4-BE49-F238E27FC236}">
                <a16:creationId xmlns:a16="http://schemas.microsoft.com/office/drawing/2014/main" id="{9473AD0E-11D1-4E31-9B4C-3DB72EB84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23875"/>
            <a:ext cx="266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D5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kicker-4-label">
            <a:extLst xmlns:a="http://schemas.openxmlformats.org/drawingml/2006/main">
              <a:ext uri="{FF2B5EF4-FFF2-40B4-BE49-F238E27FC236}">
                <a16:creationId xmlns:a16="http://schemas.microsoft.com/office/drawing/2014/main" id="{4FA49AB1-80B8-43B4-84BE-E351130E5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38150"/>
            <a:ext cx="4762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D5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0D5FF"/>
                </a:solidFill>
                <a:latin typeface="Aptos"/>
                <a:ea typeface="Aptos"/>
                <a:cs typeface="Aptos"/>
              </a:rPr>
              <a:t>ADMIN FIX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58314777-8DC1-443B-AD45-59FDB8AF4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8572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8FBFF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F8FBFF"/>
                </a:solidFill>
                <a:latin typeface="Aptos Display"/>
                <a:ea typeface="Aptos Display"/>
                <a:cs typeface="Aptos Display"/>
              </a:rPr>
              <a:t>The API key vault now clears safely after save.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1B3C6540-F346-4EA3-849C-25018F540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85950"/>
            <a:ext cx="7048500" cy="3667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B2E"/>
          </a:solidFill>
          <a:ln xmlns:a="http://schemas.openxmlformats.org/drawingml/2006/main" w="14288">
            <a:solidFill>
              <a:srgbClr val="234866"/>
            </a:solidFill>
            <a:prstDash val="solid"/>
          </a:ln>
        </p:spPr>
      </p:sp>
      <p:pic>
        <p:nvPicPr>
          <p:cNvPr id="4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57004dc10d14a58"/>
          <a:stretch xmlns:a="http://schemas.openxmlformats.org/drawingml/2006/main"/>
        </p:blipFill>
        <p:spPr>
          <a:xfrm xmlns:a="http://schemas.openxmlformats.org/drawingml/2006/main">
            <a:off x="781050" y="2281017"/>
            <a:ext cx="6572250" cy="2810315"/>
          </a:xfrm>
          <a:prstGeom xmlns:a="http://schemas.openxmlformats.org/drawingml/2006/main" prst="rect">
            <a:avLst/>
          </a:prstGeom>
        </p:spPr>
      </p:pic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15615EA6-1A17-448E-ADA1-9A816D168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076450"/>
            <a:ext cx="31432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33A"/>
          </a:solidFill>
          <a:ln xmlns:a="http://schemas.openxmlformats.org/drawingml/2006/main" w="14288">
            <a:solidFill>
              <a:srgbClr val="234866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40A71C55-1B87-46A6-8B63-E6AC3EC90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381250"/>
            <a:ext cx="2571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8FBFF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F8FBFF"/>
                </a:solidFill>
                <a:latin typeface="Aptos Display"/>
                <a:ea typeface="Aptos Display"/>
                <a:cs typeface="Aptos Display"/>
              </a:rPr>
              <a:t>What changed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D18BA4D9-9DFD-4B8F-B568-C41202446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028950"/>
            <a:ext cx="2524125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8B3C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A8B3C7"/>
                </a:solidFill>
                <a:latin typeface="Aptos"/>
                <a:ea typeface="Aptos"/>
                <a:cs typeface="Aptos"/>
              </a:rPr>
              <a:t>The form no longer depends on an async DOM reset. Provider and key inputs are controlled state, then cleared after a successful encrypted save.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7052CB7A-B778-45BE-B0F6-AE0242F9E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305300"/>
            <a:ext cx="4572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CFF2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6781CF61-F92D-4170-BDD1-FE9D93254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438650"/>
            <a:ext cx="2476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9CFF2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9CFF2F"/>
                </a:solidFill>
                <a:latin typeface="Aptos"/>
                <a:ea typeface="Aptos"/>
                <a:cs typeface="Aptos"/>
              </a:rPr>
              <a:t>No null reset error. Same user workflow.</a:t>
            </a:r>
          </a:p>
        </p:txBody>
      </p:sp>
    </p:spTree>
    <p:extLst>
      <p:ext uri="{BB962C8B-B14F-4D97-AF65-F5344CB8AC3E}">
        <p14:creationId xmlns:p14="http://schemas.microsoft.com/office/powerpoint/2010/main" val="1381303301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3946694-63F1-498B-9088-FA524338D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363D54-B7CE-470B-8E68-5FEC95731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4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7C8832-5DDB-4334-9229-97B501B52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4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C345A1-5724-4C0E-988E-FBEA0A98F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4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93FED3-4F82-4F55-BC0B-E63A7639E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4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904103B-7692-436C-AEF5-1CE3BDA06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4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E5AFE7-39D2-4C90-8A39-5D62956B5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4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0FD84C3-C741-45F4-BF0F-DD5463304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4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9C62533-AA3F-46A4-BAA4-262735881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4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1EA933F-5CE0-4AE0-BFFA-8B122AE82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4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C83E1F8-DDE3-4221-B5D1-520264C46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4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38D6557-0C11-4649-814B-45BCFDB74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4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0C99B0D-D2B9-4788-9B49-02A3A8661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4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6CE2E51-D2DF-43D9-9C91-2144052D6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4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390FA46-C640-492F-B0F3-13634C93F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4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4E152BB-4F94-4E02-B70D-31782E53E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4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FB46635-10DC-4D38-8439-70BB6CAB2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4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B3C104C-BD6E-49B2-8770-7FCD33685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4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8F37168-4FF8-49BE-B41C-3BA6EA961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4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BFF1478-DD1A-4B01-870F-74D5CFD6D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4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5338D75-5D0B-40C5-B3C9-D115E0EEB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4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9164F42-5894-40F6-9DC4-E3653E976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4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516013C-E449-46A7-B374-9FFD17F03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4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5AE4E5B-6182-4960-BDAB-DE125C100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4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3179010-262F-47EF-9E04-6351A2346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4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D95FC6B-7CE3-46AB-8142-D2A4CFB45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4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D25CFD2-408B-4495-B11C-F9BF29155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4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507614C-B4FF-469C-9D75-13E5B4D7F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4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2C93F01-7FCB-4A09-BA14-96078EF63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4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5C211EB-7CA5-4483-8091-68205DE91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57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4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D6EEE1E-B878-4C90-A12F-655123215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14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4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2A8C4C6-8D38-4F9B-989D-9E5781702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371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4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936CAAA-0161-43C8-84F1-96CA9FDF0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828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4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D058ADC-9114-4B2F-A1E8-6A94F969A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286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4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260CC1A-C640-4257-9675-F1857D405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743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4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9F53A0C-BC06-4557-A29B-C26FF8A76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200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4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0E572FA-1D48-4D5A-93CC-0E4C2114E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657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4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479446A-FFC7-4A4D-96B9-E2C3DE949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114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4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0631A2C-1BD4-48FC-901B-6E91DCAC1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572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4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E5EC8DD-2A17-4062-9E60-CFA2FB26D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029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4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49C5257-D78F-4EF8-83D3-566C9C28B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486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4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BFF3573-9DB9-4269-897C-C944F8D44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943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4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238D4CB4-AC48-46A7-86BE-97559B1CA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00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4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kicker-5-marker">
            <a:extLst xmlns:a="http://schemas.openxmlformats.org/drawingml/2006/main">
              <a:ext uri="{FF2B5EF4-FFF2-40B4-BE49-F238E27FC236}">
                <a16:creationId xmlns:a16="http://schemas.microsoft.com/office/drawing/2014/main" id="{DAF0E4F9-698A-4023-AC4E-B9EFC22C4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23875"/>
            <a:ext cx="266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D5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kicker-5-label">
            <a:extLst xmlns:a="http://schemas.openxmlformats.org/drawingml/2006/main">
              <a:ext uri="{FF2B5EF4-FFF2-40B4-BE49-F238E27FC236}">
                <a16:creationId xmlns:a16="http://schemas.microsoft.com/office/drawing/2014/main" id="{07EB1406-B126-4B4B-BEB8-6F36780D8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38150"/>
            <a:ext cx="4762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D5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0D5FF"/>
                </a:solidFill>
                <a:latin typeface="Aptos"/>
                <a:ea typeface="Aptos"/>
                <a:cs typeface="Aptos"/>
              </a:rPr>
              <a:t>TEST HISTORY FIX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F61DDF6B-7AA5-41C0-8FD1-C748C225E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8763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8FBFF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F8FBFF"/>
                </a:solidFill>
                <a:latin typeface="Aptos Display"/>
                <a:ea typeface="Aptos Display"/>
                <a:cs typeface="Aptos Display"/>
              </a:rPr>
              <a:t>Test history now displays Indian date and time explicitly.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1DC2803F-DE68-4E27-A7A2-915900465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62150"/>
            <a:ext cx="80010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B2E"/>
          </a:solidFill>
          <a:ln xmlns:a="http://schemas.openxmlformats.org/drawingml/2006/main" w="14288">
            <a:solidFill>
              <a:srgbClr val="234866"/>
            </a:solidFill>
            <a:prstDash val="solid"/>
          </a:ln>
        </p:spPr>
      </p:sp>
      <p:pic>
        <p:nvPicPr>
          <p:cNvPr id="4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ed85216a04a49b0"/>
          <a:stretch xmlns:a="http://schemas.openxmlformats.org/drawingml/2006/main"/>
        </p:blipFill>
        <p:spPr>
          <a:xfrm xmlns:a="http://schemas.openxmlformats.org/drawingml/2006/main">
            <a:off x="781050" y="2401531"/>
            <a:ext cx="7524750" cy="2245437"/>
          </a:xfrm>
          <a:prstGeom xmlns:a="http://schemas.openxmlformats.org/drawingml/2006/main" prst="rect">
            <a:avLst/>
          </a:prstGeom>
        </p:spPr>
      </p:pic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615492C1-C33C-40A7-8F8B-E4549E814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114550"/>
            <a:ext cx="238125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33A"/>
          </a:solidFill>
          <a:ln xmlns:a="http://schemas.openxmlformats.org/drawingml/2006/main" w="14288">
            <a:solidFill>
              <a:srgbClr val="234866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F690D730-C981-436C-A222-6AF30E5AB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400300"/>
            <a:ext cx="195262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9CFF2F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9CFF2F"/>
                </a:solidFill>
                <a:latin typeface="Aptos Display"/>
                <a:ea typeface="Aptos Display"/>
                <a:cs typeface="Aptos Display"/>
              </a:rPr>
              <a:t>Asia/Kolkata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991C6AC1-25C5-4155-9B50-B6387FDA1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238500"/>
            <a:ext cx="180975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8B3C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A8B3C7"/>
                </a:solidFill>
                <a:latin typeface="Aptos"/>
                <a:ea typeface="Aptos"/>
                <a:cs typeface="Aptos"/>
              </a:rPr>
              <a:t>The formatter normalizes API timestamps to UTC when no timezone is present, then renders them as en-IN with IST shown.</a:t>
            </a:r>
          </a:p>
        </p:txBody>
      </p:sp>
    </p:spTree>
    <p:extLst>
      <p:ext uri="{BB962C8B-B14F-4D97-AF65-F5344CB8AC3E}">
        <p14:creationId xmlns:p14="http://schemas.microsoft.com/office/powerpoint/2010/main" val="1617543222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1FBA481-79CA-4D0A-B9DB-0C230388B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1A7E86-47CA-4BD9-B5E4-CC3E6A235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4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16F98C-A39A-4878-A89F-38ECC35A9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4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164C33-D032-48F9-B5CE-ECFB060BC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4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AE12E3-CBF6-4770-8848-B4A16C795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4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2DCE75A-EEFF-44B9-AA53-6928B1AEB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4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8FCB433-61DA-4619-A1C1-DD51DC6A9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4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278DDE2-3935-4130-8427-6EB063883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4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76347DA-139C-452B-90D1-92CE19192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4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475EC69-F9A6-4422-BFCE-19BAD17C3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4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E72E2B8-25CE-43F0-A2A8-0F015E8D6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4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9CF4217-2EC0-456D-9ACC-8B8DBD5BC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4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1D04752-C1A1-425B-9CFA-1CC0678F5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4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5D246CB-3600-40E4-80FF-BEBCDAD07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4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76C59CC-C057-4D25-9D9D-607B6D77A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4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859DFD2-E424-46F3-987C-68781F36B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4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F60F6F0-6E45-43CB-B919-332D0BE93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4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BDC2237-9F67-4959-99BF-FF516AC2C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4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B96E46F-BF7A-407F-AB51-231ABE857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4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7E39BDD-5D2C-4710-8FD9-B381B918E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4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1FC3AFD-D722-4BFE-8F4E-BC9D7428B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4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9642527-09E8-4D59-B945-AD8F9C02A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4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6505891-55F7-4C64-951B-2C7AD54C0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4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F07129D-440B-4873-A500-502EEE7A3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4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2768B37-72F7-439B-8556-FBB79ECF3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4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7C0FB77-E60E-4FAF-BE6D-EB5B29157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4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39F5311-F5A2-4D3D-8708-F6D4A6FFE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4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9F9D7BE-1A4F-4197-A63B-2C947D6BB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4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6C0196D-0E7C-4E06-8B85-CA730F301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4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D11D99E-5D15-4084-BFB1-80E386681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57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4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CA00F9D-F7FF-4F0A-812C-EF0B8D4A8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14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4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E358410-95C6-4E06-BE32-E77235D04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371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4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272DBC5-A1A1-4264-9090-A6AC14DA9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828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4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3D49C33-19B8-40DE-BA16-C35FBB4C3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286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4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B7330DA-73BB-425F-A44A-AE7230D19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743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4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5903ED8-9705-41B8-A22C-56902486D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200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4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9A999A9-74B9-4EEC-801A-18DFB005D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657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4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66B2BA8-C016-4224-8C7C-0D87657E2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114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4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F7BF3CE-A9A6-4EC3-B73A-3B50D3AC2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572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4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A628754-BA06-4D9C-A281-2461F34EB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029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4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9B33BE7-4BA6-4058-8DDA-F48CAFEC6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486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4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C7BAB13-4494-48A5-A793-55D2B537B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943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4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7AF1C92-9727-4025-AA22-09BE63E29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00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4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kicker-6-marker">
            <a:extLst xmlns:a="http://schemas.openxmlformats.org/drawingml/2006/main">
              <a:ext uri="{FF2B5EF4-FFF2-40B4-BE49-F238E27FC236}">
                <a16:creationId xmlns:a16="http://schemas.microsoft.com/office/drawing/2014/main" id="{FF2F01B0-D49A-45BF-87B0-0C1F7C4A2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23875"/>
            <a:ext cx="266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D5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kicker-6-label">
            <a:extLst xmlns:a="http://schemas.openxmlformats.org/drawingml/2006/main">
              <a:ext uri="{FF2B5EF4-FFF2-40B4-BE49-F238E27FC236}">
                <a16:creationId xmlns:a16="http://schemas.microsoft.com/office/drawing/2014/main" id="{D9D37734-0173-4C97-94B1-7510C1F05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38150"/>
            <a:ext cx="4762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D5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0D5FF"/>
                </a:solidFill>
                <a:latin typeface="Aptos"/>
                <a:ea typeface="Aptos"/>
                <a:cs typeface="Aptos"/>
              </a:rPr>
              <a:t>PROMPT LIBRARY FIX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AD405846-CB08-480E-8992-EEE8F24E1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8953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8FBFF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F8FBFF"/>
                </a:solidFill>
                <a:latin typeface="Aptos Display"/>
                <a:ea typeface="Aptos Display"/>
                <a:cs typeface="Aptos Display"/>
              </a:rPr>
              <a:t>Selecting a domain now reveals richer project-ready prompts.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18671AE9-4A50-4A3A-A2A6-BB250DD8E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05000"/>
            <a:ext cx="7239000" cy="3476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B2E"/>
          </a:solidFill>
          <a:ln xmlns:a="http://schemas.openxmlformats.org/drawingml/2006/main" w="14288">
            <a:solidFill>
              <a:srgbClr val="234866"/>
            </a:solidFill>
            <a:prstDash val="solid"/>
          </a:ln>
        </p:spPr>
      </p:sp>
      <p:pic>
        <p:nvPicPr>
          <p:cNvPr id="4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9ac693147ab4083"/>
          <a:stretch xmlns:a="http://schemas.openxmlformats.org/drawingml/2006/main"/>
        </p:blipFill>
        <p:spPr>
          <a:xfrm xmlns:a="http://schemas.openxmlformats.org/drawingml/2006/main">
            <a:off x="781050" y="2398850"/>
            <a:ext cx="6762750" cy="2536550"/>
          </a:xfrm>
          <a:prstGeom xmlns:a="http://schemas.openxmlformats.org/drawingml/2006/main" prst="rect">
            <a:avLst/>
          </a:prstGeom>
        </p:spPr>
      </p:pic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368C56C2-0287-4006-AEC9-AC9853D0A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190750"/>
            <a:ext cx="12573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33A"/>
          </a:solidFill>
          <a:ln xmlns:a="http://schemas.openxmlformats.org/drawingml/2006/main" w="14288">
            <a:solidFill>
              <a:srgbClr val="234866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806EF763-65D3-403D-8712-386330401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8675" y="2295525"/>
            <a:ext cx="1028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8FB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8FBFF"/>
                </a:solidFill>
                <a:latin typeface="Aptos"/>
                <a:ea typeface="Aptos"/>
                <a:cs typeface="Aptos"/>
              </a:rPr>
              <a:t>healthcare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498F28F7-BD05-4DD0-8ACC-C62ACC751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190750"/>
            <a:ext cx="12573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B2E"/>
          </a:solidFill>
          <a:ln xmlns:a="http://schemas.openxmlformats.org/drawingml/2006/main" w="14288">
            <a:solidFill>
              <a:srgbClr val="234866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5DD59740-BF9C-4418-AE20-190379EA4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2295525"/>
            <a:ext cx="1028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8FB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8FBFF"/>
                </a:solidFill>
                <a:latin typeface="Aptos"/>
                <a:ea typeface="Aptos"/>
                <a:cs typeface="Aptos"/>
              </a:rPr>
              <a:t>finance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E2EDB180-6B36-47C3-8B89-248BC87EA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800350"/>
            <a:ext cx="12573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33A"/>
          </a:solidFill>
          <a:ln xmlns:a="http://schemas.openxmlformats.org/drawingml/2006/main" w="14288">
            <a:solidFill>
              <a:srgbClr val="234866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2B339099-537F-4BA1-8971-7E4682C1A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8675" y="2905125"/>
            <a:ext cx="1028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8FB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8FBFF"/>
                </a:solidFill>
                <a:latin typeface="Aptos"/>
                <a:ea typeface="Aptos"/>
                <a:cs typeface="Aptos"/>
              </a:rPr>
              <a:t>education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9029025F-D91F-4D5B-9DE1-85BB72813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800350"/>
            <a:ext cx="12573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B2E"/>
          </a:solidFill>
          <a:ln xmlns:a="http://schemas.openxmlformats.org/drawingml/2006/main" w="14288">
            <a:solidFill>
              <a:srgbClr val="234866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AB97BBB8-E499-4417-8FED-322975D3C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2905125"/>
            <a:ext cx="1028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8FB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8FBFF"/>
                </a:solidFill>
                <a:latin typeface="Aptos"/>
                <a:ea typeface="Aptos"/>
                <a:cs typeface="Aptos"/>
              </a:rPr>
              <a:t>legal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9F709A76-36D4-40F3-86DA-1D747E0BF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409950"/>
            <a:ext cx="12573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33A"/>
          </a:solidFill>
          <a:ln xmlns:a="http://schemas.openxmlformats.org/drawingml/2006/main" w="14288">
            <a:solidFill>
              <a:srgbClr val="234866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E96680A4-6D28-4716-87A1-25F229F51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8675" y="3514725"/>
            <a:ext cx="1028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9CFF2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9CFF2F"/>
                </a:solidFill>
                <a:latin typeface="Aptos"/>
                <a:ea typeface="Aptos"/>
                <a:cs typeface="Aptos"/>
              </a:rPr>
              <a:t>cybersecurity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B2CE580D-DF6D-4191-A8A4-A4DE5A733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3409950"/>
            <a:ext cx="12573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B2E"/>
          </a:solidFill>
          <a:ln xmlns:a="http://schemas.openxmlformats.org/drawingml/2006/main" w="14288">
            <a:solidFill>
              <a:srgbClr val="234866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536EBD7C-ECE4-4218-A9EC-3F922260A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3514725"/>
            <a:ext cx="1028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8FB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8FBFF"/>
                </a:solidFill>
                <a:latin typeface="Aptos"/>
                <a:ea typeface="Aptos"/>
                <a:cs typeface="Aptos"/>
              </a:rPr>
              <a:t>ecommerce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76FDFB4A-E92B-4C61-9754-BEFA5D739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019550"/>
            <a:ext cx="12573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33A"/>
          </a:solidFill>
          <a:ln xmlns:a="http://schemas.openxmlformats.org/drawingml/2006/main" w="14288">
            <a:solidFill>
              <a:srgbClr val="234866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2E8DBF17-D1B3-4F01-AFD5-6A3A86464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8675" y="4124325"/>
            <a:ext cx="1028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8FB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8FBFF"/>
                </a:solidFill>
                <a:latin typeface="Aptos"/>
                <a:ea typeface="Aptos"/>
                <a:cs typeface="Aptos"/>
              </a:rPr>
              <a:t>hr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D4E5AFFD-FF1F-4804-83FE-09CA9116B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762500"/>
            <a:ext cx="2857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8FBF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F8FBFF"/>
                </a:solidFill>
                <a:latin typeface="Aptos"/>
                <a:ea typeface="Aptos"/>
                <a:cs typeface="Aptos"/>
              </a:rPr>
              <a:t>The UI merges API prompts with built-in domain packs, shows prompt counts, and keeps copy/related-prompt actions available.</a:t>
            </a:r>
          </a:p>
        </p:txBody>
      </p:sp>
    </p:spTree>
    <p:extLst>
      <p:ext uri="{BB962C8B-B14F-4D97-AF65-F5344CB8AC3E}">
        <p14:creationId xmlns:p14="http://schemas.microsoft.com/office/powerpoint/2010/main" val="967994134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F196F88-912A-49CD-96C7-DE74F7005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520B02-E311-436C-AF73-7021D14B9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4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C8F218-3D4A-4111-B971-73CA08505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4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4CF538-F18E-472B-BEA7-E083DD6D2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4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67FEF4-5128-4CC2-8847-B2A56B2FC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4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1436F5-546A-4905-90DB-0B863124D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4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4844315-D165-43BC-86D9-3776C577B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4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FC30A6A-8D02-4466-962F-6FE83B061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4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689C123-56C0-4C25-A04C-A6986825F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4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F65EACB-4138-4F95-BE2E-CC9D90DEB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4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07441EE-0512-4907-B1BD-A8A186AA6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4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752E5F9-7634-4AA9-B489-29F12FC0E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4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52AAFB0-5D0C-4F2E-9D3A-3AC5D8A33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4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ECD817A-31AE-4434-A45D-9826C63F2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4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993ED5E-1DD1-4DA6-A3A5-913EAB6C6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4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19BCE17-2396-4D04-B54E-17EFF009A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4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F13E243-50AF-47D8-B3A0-77D8EFFC1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4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DC07323-E0E8-467C-A327-FA67C7DF7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4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10388B6-5F55-40C2-95F3-33F53A463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4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E100BB9-0FA9-4989-AEE6-0CD9F3398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4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9C8769D-ED75-4ACC-A2E1-5237084CE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4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5B333A8-C8E0-48BC-AC23-5CFDAC7B6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4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C07D323-BBF8-4335-B887-70A02DF9B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4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667707E-A4C3-4B7D-89A5-F20DB6D48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4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590A106-6858-4DE1-8A41-D61B6D9C9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4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8F8C6B5-E033-4FA3-A0CB-9C7311ED1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4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8C85280-DDED-4B7C-8E92-DA78A25B3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4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709C4C4-76D6-48D8-BEB9-0847DE598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4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E859CA8-675E-46A6-BD57-7E0385F65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4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1A8FFA6-CF93-4C6D-A240-1A40D5193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57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4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3984577-9180-4994-9D2F-E1C0EED89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14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4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78B76DB-64CD-4497-9BD8-073CB3EA2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371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4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F37FE63-648E-4392-A3A7-5345E8060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828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4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2EA0290-950A-4D76-AAE9-B75A9B568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286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4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AD9C169-DF7C-474C-AEF2-72A3C64B3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743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4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544CB17-AEA0-4DCE-B457-FEAA81DC0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200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4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D345BE1-BB6F-48FF-B8F1-991836BA5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657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4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6CF98DD-8F46-490D-9A28-CB259B27E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114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4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77125CE-7E5E-4179-B1BA-AA12B29FE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572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4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E8E9476-7434-4522-912D-0C7C12E53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029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4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3B448D6-EFA7-4DDE-97A0-43E3CF8B4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486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4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814BB0D-BB35-44A4-AF59-064074BA8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943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4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D1C040F-0613-4A5E-97A0-0312EDD51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00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4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kicker-7-marker">
            <a:extLst xmlns:a="http://schemas.openxmlformats.org/drawingml/2006/main">
              <a:ext uri="{FF2B5EF4-FFF2-40B4-BE49-F238E27FC236}">
                <a16:creationId xmlns:a16="http://schemas.microsoft.com/office/drawing/2014/main" id="{BA90CB00-573F-450C-B9DE-C378494C9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23875"/>
            <a:ext cx="266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D5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kicker-7-label">
            <a:extLst xmlns:a="http://schemas.openxmlformats.org/drawingml/2006/main">
              <a:ext uri="{FF2B5EF4-FFF2-40B4-BE49-F238E27FC236}">
                <a16:creationId xmlns:a16="http://schemas.microsoft.com/office/drawing/2014/main" id="{6B7E1FBD-74B6-4EBD-915A-677383A2D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38150"/>
            <a:ext cx="4762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D5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0D5FF"/>
                </a:solidFill>
                <a:latin typeface="Aptos"/>
                <a:ea typeface="Aptos"/>
                <a:cs typeface="Aptos"/>
              </a:rPr>
              <a:t>IMPLEMENTATION SUMMARY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4DE10154-1975-49F4-852C-5BA17EE2F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92392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8FBFF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F8FBFF"/>
                </a:solidFill>
                <a:latin typeface="Aptos Display"/>
                <a:ea typeface="Aptos Display"/>
                <a:cs typeface="Aptos Display"/>
              </a:rPr>
              <a:t>The fixes are small, but they improve trust at key moments.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5E364D3E-2EE9-42F8-A335-95AC9D435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90750"/>
            <a:ext cx="4381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B2E"/>
          </a:solidFill>
          <a:ln xmlns:a="http://schemas.openxmlformats.org/drawingml/2006/main" w="14288">
            <a:solidFill>
              <a:srgbClr val="234866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B29EDA2E-114C-44C6-A32A-BD9FD6376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19350"/>
            <a:ext cx="3619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D5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61EC2403-CEB0-40F7-B493-DE8AB7034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362200"/>
            <a:ext cx="3333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8FBFF"/>
                </a:solidFill>
                <a:latin typeface="Aptos Display"/>
                <a:ea typeface="Aptos Display"/>
                <a:cs typeface="Aptos Display"/>
              </a:defRPr>
            </a:pPr>
            <a:r>
              <a:rPr sz="1725" b="1">
                <a:solidFill>
                  <a:srgbClr val="F8FBFF"/>
                </a:solidFill>
                <a:latin typeface="Aptos Display"/>
                <a:ea typeface="Aptos Display"/>
                <a:cs typeface="Aptos Display"/>
              </a:rPr>
              <a:t>Admin save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1A82392B-1C22-4E19-9F1F-373BFEDE5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714625"/>
            <a:ext cx="3429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8B3C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A8B3C7"/>
                </a:solidFill>
                <a:latin typeface="Aptos"/>
                <a:ea typeface="Aptos"/>
                <a:cs typeface="Aptos"/>
              </a:rPr>
              <a:t>Controlled provider/key state replaces brittle form reset after async save.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14A94556-98ED-40EA-A41F-580418B41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2190750"/>
            <a:ext cx="4381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B2E"/>
          </a:solidFill>
          <a:ln xmlns:a="http://schemas.openxmlformats.org/drawingml/2006/main" w="14288">
            <a:solidFill>
              <a:srgbClr val="234866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E6AB205B-56C0-4619-B777-52FE4C817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419350"/>
            <a:ext cx="3619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CFF2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DA739AC2-F500-4D54-A4A4-622A57565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362200"/>
            <a:ext cx="3333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8FBFF"/>
                </a:solidFill>
                <a:latin typeface="Aptos Display"/>
                <a:ea typeface="Aptos Display"/>
                <a:cs typeface="Aptos Display"/>
              </a:defRPr>
            </a:pPr>
            <a:r>
              <a:rPr sz="1725" b="1">
                <a:solidFill>
                  <a:srgbClr val="F8FBFF"/>
                </a:solidFill>
                <a:latin typeface="Aptos Display"/>
                <a:ea typeface="Aptos Display"/>
                <a:cs typeface="Aptos Display"/>
              </a:rPr>
              <a:t>Indian time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DF9D5244-7CF2-4F2C-9C7A-76DF6A338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714625"/>
            <a:ext cx="3429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8B3C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A8B3C7"/>
                </a:solidFill>
                <a:latin typeface="Aptos"/>
                <a:ea typeface="Aptos"/>
                <a:cs typeface="Aptos"/>
              </a:rPr>
              <a:t>formatDate renders en-IN with Asia/Kolkata and timezone label.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C8466DB5-4EBB-4CAA-A150-F70CB358D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619500"/>
            <a:ext cx="4381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B2E"/>
          </a:solidFill>
          <a:ln xmlns:a="http://schemas.openxmlformats.org/drawingml/2006/main" w="14288">
            <a:solidFill>
              <a:srgbClr val="234866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DF10026B-7827-4D95-AC6F-2AA1B789A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3619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5D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CADF0FEA-6288-408A-B971-3C55D1D84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790950"/>
            <a:ext cx="3333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8FBFF"/>
                </a:solidFill>
                <a:latin typeface="Aptos Display"/>
                <a:ea typeface="Aptos Display"/>
                <a:cs typeface="Aptos Display"/>
              </a:defRPr>
            </a:pPr>
            <a:r>
              <a:rPr sz="1725" b="1">
                <a:solidFill>
                  <a:srgbClr val="F8FBFF"/>
                </a:solidFill>
                <a:latin typeface="Aptos Display"/>
                <a:ea typeface="Aptos Display"/>
                <a:cs typeface="Aptos Display"/>
              </a:rPr>
              <a:t>Prompt depth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53564500-DDDD-497B-B451-2FA3D9A58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143375"/>
            <a:ext cx="3429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8B3C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A8B3C7"/>
                </a:solidFill>
                <a:latin typeface="Aptos"/>
                <a:ea typeface="Aptos"/>
                <a:cs typeface="Aptos"/>
              </a:rPr>
              <a:t>Extra domain packs added for healthcare, finance, education, legal, cybersecurity, ecommerce, and HR.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8365FD5B-EEBD-445C-8F12-C7D5970D8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3619500"/>
            <a:ext cx="4381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B2E"/>
          </a:solidFill>
          <a:ln xmlns:a="http://schemas.openxmlformats.org/drawingml/2006/main" w="14288">
            <a:solidFill>
              <a:srgbClr val="234866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E781142E-808F-4DAB-8F05-8D9849F9D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848100"/>
            <a:ext cx="3619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16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8CE6FD77-C1CB-4677-9817-5B553666D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790950"/>
            <a:ext cx="3333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8FBFF"/>
                </a:solidFill>
                <a:latin typeface="Aptos Display"/>
                <a:ea typeface="Aptos Display"/>
                <a:cs typeface="Aptos Display"/>
              </a:defRPr>
            </a:pPr>
            <a:r>
              <a:rPr sz="1725" b="1">
                <a:solidFill>
                  <a:srgbClr val="F8FBFF"/>
                </a:solidFill>
                <a:latin typeface="Aptos Display"/>
                <a:ea typeface="Aptos Display"/>
                <a:cs typeface="Aptos Display"/>
              </a:rPr>
              <a:t>Fresh data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B771F323-0A09-40FF-A867-BFEE53553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4143375"/>
            <a:ext cx="3429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8B3C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A8B3C7"/>
                </a:solidFill>
                <a:latin typeface="Aptos"/>
                <a:ea typeface="Aptos"/>
                <a:cs typeface="Aptos"/>
              </a:rPr>
              <a:t>Backend seed includes the new prompts for new databases and deployments.</a:t>
            </a:r>
          </a:p>
        </p:txBody>
      </p:sp>
    </p:spTree>
    <p:extLst>
      <p:ext uri="{BB962C8B-B14F-4D97-AF65-F5344CB8AC3E}">
        <p14:creationId xmlns:p14="http://schemas.microsoft.com/office/powerpoint/2010/main" val="1686113657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8770C91-BB78-4D7E-9F10-E1A9A537C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17EE67-F8A8-478E-93E8-B7C25C17B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4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118617-A40E-4FB6-8145-E28E279C4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4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BCF6A6A-38CF-42B8-80DF-41A099C4A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4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4FA4C3B-00D1-42EB-A607-2973A04DC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4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1CBFC48-4770-4912-B72B-7CD95CCC8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4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593261D-0F9B-41E2-A443-D022FC7BA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4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DDD8C1C-6954-488A-9306-5E343B898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4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BE0E742-49E4-42A9-89E4-7A7B806B0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4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425896D-CA34-4BBD-84FE-43E4BE4A8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4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BD9DD4C-1840-49DF-B2D9-2D0DC17A0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4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FB77CED-8E28-4013-A6D1-ADB525F34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4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18080F0-1DBA-464A-BFF5-70C223144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4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50D9153-701C-45A2-8214-6AA61FECC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4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0285772-940E-476F-AC40-52B06A349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4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20E1E1D-CC17-4A6D-B43F-79DACF359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4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432B042-8F99-45C1-9560-D1F5E1D5E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4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9FBB77A-3028-4CFC-B4EA-BCD3A3456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4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157EEBF-BEFF-4276-935C-AC3C5E19B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4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1678094-88AA-4B02-8C66-AB4CEEA7D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4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8DD63DA-D9A5-478E-B659-26F36C141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4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46C57F9-A7FC-4DB9-B0CF-DEC43CE47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4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F6E1E3C-FB02-4379-88AD-23D7E0634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4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3DD8ECD-AC97-419C-832E-92D0F27BB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4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0EB58D1-3DEB-4E8B-8E90-2D5A6BB04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4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9FDCD20-16CD-4E9A-AAA1-666011A23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4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1DE90F8-ECF5-428E-90A2-32F33C540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4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874128E-66E3-4F07-B6F0-96ABF7BCC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4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F4EC0DF-6CE6-4E4F-AB1C-3DFE29984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4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DC08C6C-2EF9-4A11-9D0C-5048F9DF7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57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4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3635F9A-359F-4DE3-98D0-37C6A22C8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14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4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0874E05-57A7-4438-AD2E-8393BB536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371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4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04C22EB-3B52-4DBC-ABA1-A141268D3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828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4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53221F8-E1A0-4CC2-B1C5-08C6D063F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286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4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A80EDFB-B6AB-401C-9CE6-4E40F8A74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743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4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C9E1545-289F-4311-A4CB-EF3E105DD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200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4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7635C3E-53A7-4041-8135-C8933D098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657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4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237BAE3-25C3-4613-B0D8-58EBF0761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114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4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709EF0B-7390-439D-A56E-396DC660C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572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4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0C6212C-C00F-4690-B271-07C537B47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029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4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F1FE404-DBF1-45E1-8823-5CCA22031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486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4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2C034E7-BD94-4078-A87C-1DB538A0D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943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4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8D1A6EF-D5DB-482C-A321-243CAF3D6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00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4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kicker-8-marker">
            <a:extLst xmlns:a="http://schemas.openxmlformats.org/drawingml/2006/main">
              <a:ext uri="{FF2B5EF4-FFF2-40B4-BE49-F238E27FC236}">
                <a16:creationId xmlns:a16="http://schemas.microsoft.com/office/drawing/2014/main" id="{3850F088-081A-43A8-B1F5-A15097686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23875"/>
            <a:ext cx="266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D5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kicker-8-label">
            <a:extLst xmlns:a="http://schemas.openxmlformats.org/drawingml/2006/main">
              <a:ext uri="{FF2B5EF4-FFF2-40B4-BE49-F238E27FC236}">
                <a16:creationId xmlns:a16="http://schemas.microsoft.com/office/drawing/2014/main" id="{BAE1111F-580C-4E0B-9013-2DCA974B4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38150"/>
            <a:ext cx="4762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D5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0D5FF"/>
                </a:solidFill>
                <a:latin typeface="Aptos"/>
                <a:ea typeface="Aptos"/>
                <a:cs typeface="Aptos"/>
              </a:rPr>
              <a:t>HANDOFF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DB71EA8D-D2DF-43EB-B9CA-21DFB74C4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9144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8FBFF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F8FBFF"/>
                </a:solidFill>
                <a:latin typeface="Aptos Display"/>
                <a:ea typeface="Aptos Display"/>
                <a:cs typeface="Aptos Display"/>
              </a:rPr>
              <a:t>Ready for GitHub and Vercel once deployment credentials are available.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2FF56FA9-F4CA-4085-9848-ED1BB2227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923925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B2E"/>
          </a:solidFill>
          <a:ln xmlns:a="http://schemas.openxmlformats.org/drawingml/2006/main" w="14288">
            <a:solidFill>
              <a:srgbClr val="234866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DF4E1C62-0AB4-4B16-BAFF-50A77C119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495550"/>
            <a:ext cx="8572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8FBFF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F8FBFF"/>
                </a:solidFill>
                <a:latin typeface="Aptos"/>
                <a:ea typeface="Aptos"/>
                <a:cs typeface="Aptos"/>
              </a:rPr>
              <a:t>Verified locally: frontend typecheck, lint, production build, and backend smoke test. The in-app browser bridge failed before visual testing, so screenshots in this deck use the provided project images.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8F16045C-3797-4BD6-913C-D9048A5A4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71850"/>
            <a:ext cx="8572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A8B3C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A8B3C7"/>
                </a:solidFill>
                <a:latin typeface="Aptos"/>
                <a:ea typeface="Aptos"/>
                <a:cs typeface="Aptos"/>
              </a:rPr>
              <a:t>Production note: Vercel can deploy the Next.js frontend. A public backend URL must be configured as NEXT_PUBLIC_API_URL for login, test history, reports, and admin APIs to work live.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3766DFDA-D8E7-4625-9A79-992102D05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57750"/>
            <a:ext cx="2857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33A"/>
          </a:solidFill>
          <a:ln xmlns:a="http://schemas.openxmlformats.org/drawingml/2006/main" w="14288">
            <a:solidFill>
              <a:srgbClr val="234866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C1D61FD7-19F0-45C0-9414-181D22239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4857750"/>
            <a:ext cx="2857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33A"/>
          </a:solidFill>
          <a:ln xmlns:a="http://schemas.openxmlformats.org/drawingml/2006/main" w="14288">
            <a:solidFill>
              <a:srgbClr val="234866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9BFD6D09-74E7-413E-B613-E30FF2DB4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4857750"/>
            <a:ext cx="2857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33A"/>
          </a:solidFill>
          <a:ln xmlns:a="http://schemas.openxmlformats.org/drawingml/2006/main" w="14288">
            <a:solidFill>
              <a:srgbClr val="234866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84942019-367B-474C-981A-A94692951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067300"/>
            <a:ext cx="2381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D5FF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00D5FF"/>
                </a:solidFill>
                <a:latin typeface="Aptos Display"/>
                <a:ea typeface="Aptos Display"/>
                <a:cs typeface="Aptos Display"/>
              </a:rPr>
              <a:t>Code committed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D8C4D657-462B-42F8-834D-B5D8D218E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5067300"/>
            <a:ext cx="2381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9CFF2F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9CFF2F"/>
                </a:solidFill>
                <a:latin typeface="Aptos Display"/>
                <a:ea typeface="Aptos Display"/>
                <a:cs typeface="Aptos Display"/>
              </a:rPr>
              <a:t>Vercel-ready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F5120C2E-14C7-42A8-A164-A3047D54C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5067300"/>
            <a:ext cx="2381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6D5DFC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6D5DFC"/>
                </a:solidFill>
                <a:latin typeface="Aptos Display"/>
                <a:ea typeface="Aptos Display"/>
                <a:cs typeface="Aptos Display"/>
              </a:rPr>
              <a:t>PPT included</a:t>
            </a:r>
          </a:p>
        </p:txBody>
      </p:sp>
    </p:spTree>
    <p:extLst>
      <p:ext uri="{BB962C8B-B14F-4D97-AF65-F5344CB8AC3E}">
        <p14:creationId xmlns:p14="http://schemas.microsoft.com/office/powerpoint/2010/main" val="9072196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2026-06-04T04:58:51.4000000Z</dcterms:created>
  <dcterms:modified xsi:type="dcterms:W3CDTF">2026-06-04T04:58:51.4000000Z</dcterms:modified>
</coreProperties>
</file>